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T Sans Narrow"/>
      <p:regular r:id="rId19"/>
      <p:bold r:id="rId20"/>
    </p:embeddedFont>
    <p:embeddedFont>
      <p:font typeface="Roboto Mono"/>
      <p:regular r:id="rId21"/>
      <p:bold r:id="rId22"/>
      <p:italic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DF6C7D-4C8E-4C73-B0C6-1976E8332422}">
  <a:tblStyle styleId="{6CDF6C7D-4C8E-4C73-B0C6-1976E833242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bold.fntdata"/><Relationship Id="rId22" Type="http://schemas.openxmlformats.org/officeDocument/2006/relationships/font" Target="fonts/RobotoMono-bold.fntdata"/><Relationship Id="rId21" Type="http://schemas.openxmlformats.org/officeDocument/2006/relationships/font" Target="fonts/RobotoMono-regular.fntdata"/><Relationship Id="rId24" Type="http://schemas.openxmlformats.org/officeDocument/2006/relationships/font" Target="fonts/RobotoMono-boldItalic.fntdata"/><Relationship Id="rId23" Type="http://schemas.openxmlformats.org/officeDocument/2006/relationships/font" Target="fonts/RobotoMon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TSansNarrow-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50c4e6a4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50c4e6a4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50c4e6a4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50c4e6a4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50c4e6a4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50c4e6a4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50c4e6a4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50c4e6a4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50c4e6a41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50c4e6a4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50c4e6a4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50c4e6a4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50c4e6a4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50c4e6a4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150c4e6a4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150c4e6a4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5c84869d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15c84869d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50c4e6a41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150c4e6a41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50c4e6a41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150c4e6a41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lucid.app/lucidchart/98be0c92-8a3f-4c61-bf4f-b8d5447ff536/edit?page=0_0&amp;invitationId=inv_c377d929-3777-4f46-85d1-ca8f3a27562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fr"/>
              <a:t>RD : Modéliser des relations entre les tables</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ERD - cardinalité</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Sommaire</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Introduction</a:t>
            </a:r>
            <a:endParaRPr/>
          </a:p>
          <a:p>
            <a:pPr indent="-342900" lvl="0" marL="457200" rtl="0" algn="l">
              <a:spcBef>
                <a:spcPts val="0"/>
              </a:spcBef>
              <a:spcAft>
                <a:spcPts val="0"/>
              </a:spcAft>
              <a:buSzPts val="1800"/>
              <a:buChar char="●"/>
            </a:pPr>
            <a:r>
              <a:rPr lang="fr"/>
              <a:t>One-to-One</a:t>
            </a:r>
            <a:endParaRPr/>
          </a:p>
          <a:p>
            <a:pPr indent="-342900" lvl="0" marL="457200" rtl="0" algn="l">
              <a:spcBef>
                <a:spcPts val="0"/>
              </a:spcBef>
              <a:spcAft>
                <a:spcPts val="0"/>
              </a:spcAft>
              <a:buSzPts val="1800"/>
              <a:buChar char="●"/>
            </a:pPr>
            <a:r>
              <a:rPr lang="fr"/>
              <a:t>One-to-Many</a:t>
            </a:r>
            <a:endParaRPr/>
          </a:p>
          <a:p>
            <a:pPr indent="-342900" lvl="0" marL="457200" rtl="0" algn="l">
              <a:spcBef>
                <a:spcPts val="0"/>
              </a:spcBef>
              <a:spcAft>
                <a:spcPts val="0"/>
              </a:spcAft>
              <a:buSzPts val="1800"/>
              <a:buChar char="●"/>
            </a:pPr>
            <a:r>
              <a:rPr lang="fr"/>
              <a:t>Many-to-Many</a:t>
            </a:r>
            <a:endParaRPr/>
          </a:p>
          <a:p>
            <a:pPr indent="-342900" lvl="0" marL="457200" rtl="0" algn="l">
              <a:spcBef>
                <a:spcPts val="0"/>
              </a:spcBef>
              <a:spcAft>
                <a:spcPts val="0"/>
              </a:spcAft>
              <a:buSzPts val="1800"/>
              <a:buChar char="●"/>
            </a:pPr>
            <a:r>
              <a:rPr lang="fr"/>
              <a:t>Many-to-One</a:t>
            </a:r>
            <a:endParaRPr/>
          </a:p>
          <a:p>
            <a:pPr indent="-342900" lvl="0" marL="457200" rtl="0" algn="l">
              <a:spcBef>
                <a:spcPts val="0"/>
              </a:spcBef>
              <a:spcAft>
                <a:spcPts val="0"/>
              </a:spcAft>
              <a:buSzPts val="1800"/>
              <a:buChar char="●"/>
            </a:pPr>
            <a:r>
              <a:rPr lang="fr"/>
              <a:t>ERDs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fr" sz="1700">
                <a:solidFill>
                  <a:srgbClr val="666666"/>
                </a:solidFill>
                <a:latin typeface="Arial"/>
                <a:ea typeface="Arial"/>
                <a:cs typeface="Arial"/>
                <a:sym typeface="Arial"/>
              </a:rPr>
              <a:t>Les relations entre tables en SQL définissent les connexions entre différentes tables dans une base de données relationnelle. Elles permettent d’organiser et de lier les données, facilitant ainsi leur extraction et leur maintenance. Ces relations sont établies à l’aide de </a:t>
            </a:r>
            <a:r>
              <a:rPr b="1" lang="fr" sz="1700">
                <a:solidFill>
                  <a:srgbClr val="666666"/>
                </a:solidFill>
                <a:latin typeface="Arial"/>
                <a:ea typeface="Arial"/>
                <a:cs typeface="Arial"/>
                <a:sym typeface="Arial"/>
              </a:rPr>
              <a:t>clés étrangères</a:t>
            </a:r>
            <a:r>
              <a:rPr lang="fr" sz="1700">
                <a:solidFill>
                  <a:srgbClr val="666666"/>
                </a:solidFill>
                <a:latin typeface="Arial"/>
                <a:ea typeface="Arial"/>
                <a:cs typeface="Arial"/>
                <a:sym typeface="Arial"/>
              </a:rPr>
              <a:t>, qui connectent les colonnes d’une table à la clé primaire d’une autre.</a:t>
            </a:r>
            <a:endParaRPr sz="1700">
              <a:solidFill>
                <a:srgbClr val="666666"/>
              </a:solidFill>
              <a:latin typeface="Arial"/>
              <a:ea typeface="Arial"/>
              <a:cs typeface="Arial"/>
              <a:sym typeface="Arial"/>
            </a:endParaRPr>
          </a:p>
          <a:p>
            <a:pPr indent="0" lvl="0" marL="0" rtl="0" algn="l">
              <a:spcBef>
                <a:spcPts val="1200"/>
              </a:spcBef>
              <a:spcAft>
                <a:spcPts val="0"/>
              </a:spcAft>
              <a:buNone/>
            </a:pPr>
            <a:r>
              <a:rPr lang="fr" sz="1700">
                <a:solidFill>
                  <a:srgbClr val="666666"/>
                </a:solidFill>
                <a:latin typeface="Arial"/>
                <a:ea typeface="Arial"/>
                <a:cs typeface="Arial"/>
                <a:sym typeface="Arial"/>
              </a:rPr>
              <a:t>Dans cette présentation, nous explorerons les différents types de relations en SQL : </a:t>
            </a:r>
            <a:r>
              <a:rPr b="1" lang="fr" sz="1700">
                <a:solidFill>
                  <a:srgbClr val="666666"/>
                </a:solidFill>
                <a:latin typeface="Arial"/>
                <a:ea typeface="Arial"/>
                <a:cs typeface="Arial"/>
                <a:sym typeface="Arial"/>
              </a:rPr>
              <a:t>One-to-One</a:t>
            </a:r>
            <a:r>
              <a:rPr lang="fr" sz="1700">
                <a:solidFill>
                  <a:srgbClr val="666666"/>
                </a:solidFill>
                <a:latin typeface="Arial"/>
                <a:ea typeface="Arial"/>
                <a:cs typeface="Arial"/>
                <a:sym typeface="Arial"/>
              </a:rPr>
              <a:t>, </a:t>
            </a:r>
            <a:r>
              <a:rPr b="1" lang="fr" sz="1700">
                <a:solidFill>
                  <a:srgbClr val="666666"/>
                </a:solidFill>
                <a:latin typeface="Arial"/>
                <a:ea typeface="Arial"/>
                <a:cs typeface="Arial"/>
                <a:sym typeface="Arial"/>
              </a:rPr>
              <a:t>One-to-Many</a:t>
            </a:r>
            <a:r>
              <a:rPr lang="fr" sz="1700">
                <a:solidFill>
                  <a:srgbClr val="666666"/>
                </a:solidFill>
                <a:latin typeface="Arial"/>
                <a:ea typeface="Arial"/>
                <a:cs typeface="Arial"/>
                <a:sym typeface="Arial"/>
              </a:rPr>
              <a:t>, </a:t>
            </a:r>
            <a:r>
              <a:rPr b="1" lang="fr" sz="1700">
                <a:solidFill>
                  <a:srgbClr val="666666"/>
                </a:solidFill>
                <a:latin typeface="Arial"/>
                <a:ea typeface="Arial"/>
                <a:cs typeface="Arial"/>
                <a:sym typeface="Arial"/>
              </a:rPr>
              <a:t>Many-to-Many</a:t>
            </a:r>
            <a:r>
              <a:rPr lang="fr" sz="1700">
                <a:solidFill>
                  <a:srgbClr val="666666"/>
                </a:solidFill>
                <a:latin typeface="Arial"/>
                <a:ea typeface="Arial"/>
                <a:cs typeface="Arial"/>
                <a:sym typeface="Arial"/>
              </a:rPr>
              <a:t>.</a:t>
            </a:r>
            <a:endParaRPr sz="1700">
              <a:solidFill>
                <a:srgbClr val="666666"/>
              </a:solidFill>
              <a:latin typeface="Arial"/>
              <a:ea typeface="Arial"/>
              <a:cs typeface="Arial"/>
              <a:sym typeface="Arial"/>
            </a:endParaRPr>
          </a:p>
          <a:p>
            <a:pPr indent="0" lvl="0" marL="0" rtl="0" algn="l">
              <a:spcBef>
                <a:spcPts val="1200"/>
              </a:spcBef>
              <a:spcAft>
                <a:spcPts val="1200"/>
              </a:spcAft>
              <a:buNone/>
            </a:pPr>
            <a:r>
              <a:rPr lang="fr" sz="1700">
                <a:solidFill>
                  <a:srgbClr val="666666"/>
                </a:solidFill>
                <a:latin typeface="Arial"/>
                <a:ea typeface="Arial"/>
                <a:cs typeface="Arial"/>
                <a:sym typeface="Arial"/>
              </a:rPr>
              <a:t>On peut exprimer ces relations sous le terme de cardinalité.</a:t>
            </a:r>
            <a:endParaRPr sz="1700">
              <a:solidFill>
                <a:srgbClr val="66666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One-to-One</a:t>
            </a:r>
            <a:endParaRPr/>
          </a:p>
        </p:txBody>
      </p:sp>
      <p:sp>
        <p:nvSpPr>
          <p:cNvPr id="85" name="Google Shape;85;p16"/>
          <p:cNvSpPr txBox="1"/>
          <p:nvPr>
            <p:ph idx="1" type="body"/>
          </p:nvPr>
        </p:nvSpPr>
        <p:spPr>
          <a:xfrm>
            <a:off x="311700" y="1266325"/>
            <a:ext cx="4885800" cy="174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fr" sz="1100">
                <a:solidFill>
                  <a:srgbClr val="000000"/>
                </a:solidFill>
                <a:latin typeface="Arial"/>
                <a:ea typeface="Arial"/>
                <a:cs typeface="Arial"/>
                <a:sym typeface="Arial"/>
              </a:rPr>
              <a:t>Définition :</a:t>
            </a:r>
            <a:r>
              <a:rPr lang="fr" sz="1100">
                <a:solidFill>
                  <a:srgbClr val="000000"/>
                </a:solidFill>
                <a:latin typeface="Arial"/>
                <a:ea typeface="Arial"/>
                <a:cs typeface="Arial"/>
                <a:sym typeface="Arial"/>
              </a:rPr>
              <a:t> Chaque enregistrement dans la Table A est associé à un et un seul enregistrement dans la Table B, et vice versa.</a:t>
            </a:r>
            <a:endParaRPr sz="1100">
              <a:solidFill>
                <a:srgbClr val="000000"/>
              </a:solidFill>
              <a:latin typeface="Arial"/>
              <a:ea typeface="Arial"/>
              <a:cs typeface="Arial"/>
              <a:sym typeface="Arial"/>
            </a:endParaRPr>
          </a:p>
          <a:p>
            <a:pPr indent="0" lvl="0" marL="0" rtl="0" algn="just">
              <a:spcBef>
                <a:spcPts val="1200"/>
              </a:spcBef>
              <a:spcAft>
                <a:spcPts val="0"/>
              </a:spcAft>
              <a:buNone/>
            </a:pPr>
            <a:r>
              <a:rPr b="1" lang="fr" sz="1100">
                <a:solidFill>
                  <a:srgbClr val="000000"/>
                </a:solidFill>
                <a:latin typeface="Arial"/>
                <a:ea typeface="Arial"/>
                <a:cs typeface="Arial"/>
                <a:sym typeface="Arial"/>
              </a:rPr>
              <a:t>Mise en place :</a:t>
            </a:r>
            <a:r>
              <a:rPr lang="fr" sz="1100">
                <a:solidFill>
                  <a:srgbClr val="000000"/>
                </a:solidFill>
                <a:latin typeface="Arial"/>
                <a:ea typeface="Arial"/>
                <a:cs typeface="Arial"/>
                <a:sym typeface="Arial"/>
              </a:rPr>
              <a:t> Inclure une clé étrangère dans l'une des tables qui référence la clé primaire de l'autre table.</a:t>
            </a:r>
            <a:endParaRPr sz="1100">
              <a:solidFill>
                <a:srgbClr val="000000"/>
              </a:solidFill>
              <a:latin typeface="Arial"/>
              <a:ea typeface="Arial"/>
              <a:cs typeface="Arial"/>
              <a:sym typeface="Arial"/>
            </a:endParaRPr>
          </a:p>
          <a:p>
            <a:pPr indent="0" lvl="0" marL="0" rtl="0" algn="just">
              <a:spcBef>
                <a:spcPts val="1200"/>
              </a:spcBef>
              <a:spcAft>
                <a:spcPts val="1200"/>
              </a:spcAft>
              <a:buNone/>
            </a:pPr>
            <a:r>
              <a:rPr b="1" lang="fr" sz="1100">
                <a:solidFill>
                  <a:srgbClr val="000000"/>
                </a:solidFill>
                <a:latin typeface="Arial"/>
                <a:ea typeface="Arial"/>
                <a:cs typeface="Arial"/>
                <a:sym typeface="Arial"/>
              </a:rPr>
              <a:t>Exemple :</a:t>
            </a:r>
            <a:r>
              <a:rPr lang="fr" sz="1100">
                <a:solidFill>
                  <a:srgbClr val="000000"/>
                </a:solidFill>
                <a:latin typeface="Arial"/>
                <a:ea typeface="Arial"/>
                <a:cs typeface="Arial"/>
                <a:sym typeface="Arial"/>
              </a:rPr>
              <a:t> Les tables </a:t>
            </a:r>
            <a:r>
              <a:rPr lang="fr" sz="1100">
                <a:solidFill>
                  <a:srgbClr val="188038"/>
                </a:solidFill>
                <a:latin typeface="Roboto Mono"/>
                <a:ea typeface="Roboto Mono"/>
                <a:cs typeface="Roboto Mono"/>
                <a:sym typeface="Roboto Mono"/>
              </a:rPr>
              <a:t>users</a:t>
            </a:r>
            <a:r>
              <a:rPr lang="fr" sz="1100">
                <a:solidFill>
                  <a:srgbClr val="000000"/>
                </a:solidFill>
                <a:latin typeface="Arial"/>
                <a:ea typeface="Arial"/>
                <a:cs typeface="Arial"/>
                <a:sym typeface="Arial"/>
              </a:rPr>
              <a:t> et </a:t>
            </a:r>
            <a:r>
              <a:rPr lang="fr" sz="1100">
                <a:solidFill>
                  <a:srgbClr val="188038"/>
                </a:solidFill>
                <a:latin typeface="Roboto Mono"/>
                <a:ea typeface="Roboto Mono"/>
                <a:cs typeface="Roboto Mono"/>
                <a:sym typeface="Roboto Mono"/>
              </a:rPr>
              <a:t>user_profiles</a:t>
            </a:r>
            <a:r>
              <a:rPr lang="fr" sz="1100">
                <a:solidFill>
                  <a:srgbClr val="000000"/>
                </a:solidFill>
                <a:latin typeface="Arial"/>
                <a:ea typeface="Arial"/>
                <a:cs typeface="Arial"/>
                <a:sym typeface="Arial"/>
              </a:rPr>
              <a:t>, où chaque utilisateur possède un profil correspondant unique.</a:t>
            </a:r>
            <a:endParaRPr/>
          </a:p>
        </p:txBody>
      </p:sp>
      <p:pic>
        <p:nvPicPr>
          <p:cNvPr id="86" name="Google Shape;86;p16"/>
          <p:cNvPicPr preferRelativeResize="0"/>
          <p:nvPr/>
        </p:nvPicPr>
        <p:blipFill>
          <a:blip r:embed="rId3">
            <a:alphaModFix/>
          </a:blip>
          <a:stretch>
            <a:fillRect/>
          </a:stretch>
        </p:blipFill>
        <p:spPr>
          <a:xfrm>
            <a:off x="5294625" y="1390725"/>
            <a:ext cx="3709546" cy="1500175"/>
          </a:xfrm>
          <a:prstGeom prst="rect">
            <a:avLst/>
          </a:prstGeom>
          <a:noFill/>
          <a:ln>
            <a:noFill/>
          </a:ln>
        </p:spPr>
      </p:pic>
      <p:pic>
        <p:nvPicPr>
          <p:cNvPr id="87" name="Google Shape;87;p16"/>
          <p:cNvPicPr preferRelativeResize="0"/>
          <p:nvPr/>
        </p:nvPicPr>
        <p:blipFill>
          <a:blip r:embed="rId4">
            <a:alphaModFix/>
          </a:blip>
          <a:stretch>
            <a:fillRect/>
          </a:stretch>
        </p:blipFill>
        <p:spPr>
          <a:xfrm>
            <a:off x="2198575" y="3193600"/>
            <a:ext cx="4746851" cy="1688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One-to-Many</a:t>
            </a:r>
            <a:endParaRPr/>
          </a:p>
        </p:txBody>
      </p:sp>
      <p:sp>
        <p:nvSpPr>
          <p:cNvPr id="93" name="Google Shape;93;p17"/>
          <p:cNvSpPr txBox="1"/>
          <p:nvPr>
            <p:ph idx="1" type="body"/>
          </p:nvPr>
        </p:nvSpPr>
        <p:spPr>
          <a:xfrm>
            <a:off x="311700" y="1266325"/>
            <a:ext cx="3254400" cy="3248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fr" sz="1100">
                <a:solidFill>
                  <a:srgbClr val="000000"/>
                </a:solidFill>
                <a:latin typeface="Arial"/>
                <a:ea typeface="Arial"/>
                <a:cs typeface="Arial"/>
                <a:sym typeface="Arial"/>
              </a:rPr>
              <a:t>Définition :</a:t>
            </a:r>
            <a:r>
              <a:rPr lang="fr" sz="1100">
                <a:solidFill>
                  <a:srgbClr val="000000"/>
                </a:solidFill>
                <a:latin typeface="Arial"/>
                <a:ea typeface="Arial"/>
                <a:cs typeface="Arial"/>
                <a:sym typeface="Arial"/>
              </a:rPr>
              <a:t> Chaque enregistrement dans la Table A peut être associé à plusieurs enregistrements dans la Table B, mais chaque enregistrement dans la Table B est associé à un seul enregistrement dans la Table A.</a:t>
            </a:r>
            <a:endParaRPr sz="1100">
              <a:solidFill>
                <a:srgbClr val="000000"/>
              </a:solidFill>
              <a:latin typeface="Arial"/>
              <a:ea typeface="Arial"/>
              <a:cs typeface="Arial"/>
              <a:sym typeface="Arial"/>
            </a:endParaRPr>
          </a:p>
          <a:p>
            <a:pPr indent="0" lvl="0" marL="0" rtl="0" algn="just">
              <a:spcBef>
                <a:spcPts val="1200"/>
              </a:spcBef>
              <a:spcAft>
                <a:spcPts val="0"/>
              </a:spcAft>
              <a:buNone/>
            </a:pPr>
            <a:r>
              <a:rPr b="1" lang="fr" sz="1100">
                <a:solidFill>
                  <a:srgbClr val="000000"/>
                </a:solidFill>
                <a:latin typeface="Arial"/>
                <a:ea typeface="Arial"/>
                <a:cs typeface="Arial"/>
                <a:sym typeface="Arial"/>
              </a:rPr>
              <a:t>Mise en place :</a:t>
            </a:r>
            <a:r>
              <a:rPr lang="fr" sz="1100">
                <a:solidFill>
                  <a:srgbClr val="000000"/>
                </a:solidFill>
                <a:latin typeface="Arial"/>
                <a:ea typeface="Arial"/>
                <a:cs typeface="Arial"/>
                <a:sym typeface="Arial"/>
              </a:rPr>
              <a:t> Inclure une clé étrangère dans la table représentant le côté "plusieurs" (Table B) qui référence la clé primaire de la table représentant le côté "un" (Table A).</a:t>
            </a:r>
            <a:endParaRPr sz="1100">
              <a:solidFill>
                <a:srgbClr val="000000"/>
              </a:solidFill>
              <a:latin typeface="Arial"/>
              <a:ea typeface="Arial"/>
              <a:cs typeface="Arial"/>
              <a:sym typeface="Arial"/>
            </a:endParaRPr>
          </a:p>
          <a:p>
            <a:pPr indent="0" lvl="0" marL="0" rtl="0" algn="just">
              <a:spcBef>
                <a:spcPts val="1200"/>
              </a:spcBef>
              <a:spcAft>
                <a:spcPts val="1200"/>
              </a:spcAft>
              <a:buNone/>
            </a:pPr>
            <a:r>
              <a:rPr b="1" lang="fr" sz="1100">
                <a:solidFill>
                  <a:srgbClr val="000000"/>
                </a:solidFill>
                <a:latin typeface="Arial"/>
                <a:ea typeface="Arial"/>
                <a:cs typeface="Arial"/>
                <a:sym typeface="Arial"/>
              </a:rPr>
              <a:t>Exemple :</a:t>
            </a:r>
            <a:r>
              <a:rPr lang="fr" sz="1100">
                <a:solidFill>
                  <a:srgbClr val="000000"/>
                </a:solidFill>
                <a:latin typeface="Arial"/>
                <a:ea typeface="Arial"/>
                <a:cs typeface="Arial"/>
                <a:sym typeface="Arial"/>
              </a:rPr>
              <a:t> Les tables </a:t>
            </a:r>
            <a:r>
              <a:rPr lang="fr" sz="1100">
                <a:solidFill>
                  <a:srgbClr val="188038"/>
                </a:solidFill>
                <a:latin typeface="Roboto Mono"/>
                <a:ea typeface="Roboto Mono"/>
                <a:cs typeface="Roboto Mono"/>
                <a:sym typeface="Roboto Mono"/>
              </a:rPr>
              <a:t>departments</a:t>
            </a:r>
            <a:r>
              <a:rPr lang="fr" sz="1100">
                <a:solidFill>
                  <a:srgbClr val="000000"/>
                </a:solidFill>
                <a:latin typeface="Arial"/>
                <a:ea typeface="Arial"/>
                <a:cs typeface="Arial"/>
                <a:sym typeface="Arial"/>
              </a:rPr>
              <a:t> et </a:t>
            </a:r>
            <a:r>
              <a:rPr lang="fr" sz="1100">
                <a:solidFill>
                  <a:srgbClr val="188038"/>
                </a:solidFill>
                <a:latin typeface="Roboto Mono"/>
                <a:ea typeface="Roboto Mono"/>
                <a:cs typeface="Roboto Mono"/>
                <a:sym typeface="Roboto Mono"/>
              </a:rPr>
              <a:t>employees</a:t>
            </a:r>
            <a:r>
              <a:rPr lang="fr" sz="1100">
                <a:solidFill>
                  <a:srgbClr val="000000"/>
                </a:solidFill>
                <a:latin typeface="Arial"/>
                <a:ea typeface="Arial"/>
                <a:cs typeface="Arial"/>
                <a:sym typeface="Arial"/>
              </a:rPr>
              <a:t>, où chaque département peut avoir plusieurs employés, mais chaque employé appartient à un seul département.</a:t>
            </a:r>
            <a:endParaRPr b="1" sz="1100">
              <a:solidFill>
                <a:srgbClr val="000000"/>
              </a:solidFill>
              <a:latin typeface="Arial"/>
              <a:ea typeface="Arial"/>
              <a:cs typeface="Arial"/>
              <a:sym typeface="Arial"/>
            </a:endParaRPr>
          </a:p>
        </p:txBody>
      </p:sp>
      <p:pic>
        <p:nvPicPr>
          <p:cNvPr id="94" name="Google Shape;94;p17"/>
          <p:cNvPicPr preferRelativeResize="0"/>
          <p:nvPr/>
        </p:nvPicPr>
        <p:blipFill>
          <a:blip r:embed="rId3">
            <a:alphaModFix/>
          </a:blip>
          <a:stretch>
            <a:fillRect/>
          </a:stretch>
        </p:blipFill>
        <p:spPr>
          <a:xfrm>
            <a:off x="3909725" y="707426"/>
            <a:ext cx="5033776" cy="1637746"/>
          </a:xfrm>
          <a:prstGeom prst="rect">
            <a:avLst/>
          </a:prstGeom>
          <a:noFill/>
          <a:ln>
            <a:noFill/>
          </a:ln>
        </p:spPr>
      </p:pic>
      <p:pic>
        <p:nvPicPr>
          <p:cNvPr id="95" name="Google Shape;95;p17"/>
          <p:cNvPicPr preferRelativeResize="0"/>
          <p:nvPr/>
        </p:nvPicPr>
        <p:blipFill>
          <a:blip r:embed="rId4">
            <a:alphaModFix/>
          </a:blip>
          <a:stretch>
            <a:fillRect/>
          </a:stretch>
        </p:blipFill>
        <p:spPr>
          <a:xfrm>
            <a:off x="3909725" y="2538910"/>
            <a:ext cx="5033764" cy="1791191"/>
          </a:xfrm>
          <a:prstGeom prst="rect">
            <a:avLst/>
          </a:prstGeom>
          <a:noFill/>
          <a:ln>
            <a:noFill/>
          </a:ln>
        </p:spPr>
      </p:pic>
      <p:sp>
        <p:nvSpPr>
          <p:cNvPr id="96" name="Google Shape;96;p17"/>
          <p:cNvSpPr txBox="1"/>
          <p:nvPr>
            <p:ph idx="1" type="body"/>
          </p:nvPr>
        </p:nvSpPr>
        <p:spPr>
          <a:xfrm>
            <a:off x="311700" y="4413600"/>
            <a:ext cx="8366100" cy="5175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fr" sz="1100">
                <a:solidFill>
                  <a:srgbClr val="000000"/>
                </a:solidFill>
                <a:latin typeface="Arial"/>
                <a:ea typeface="Arial"/>
                <a:cs typeface="Arial"/>
                <a:sym typeface="Arial"/>
              </a:rPr>
              <a:t>Note : </a:t>
            </a:r>
            <a:r>
              <a:rPr i="1" lang="fr" sz="1100">
                <a:solidFill>
                  <a:srgbClr val="000000"/>
                </a:solidFill>
                <a:latin typeface="Arial"/>
                <a:ea typeface="Arial"/>
                <a:cs typeface="Arial"/>
                <a:sym typeface="Arial"/>
              </a:rPr>
              <a:t>On parle de Many-to-One pour exprimer la relation entre les tables mais dans l’autre sens</a:t>
            </a:r>
            <a:endParaRPr i="1" sz="11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Many-to-Many</a:t>
            </a:r>
            <a:endParaRPr/>
          </a:p>
        </p:txBody>
      </p:sp>
      <p:sp>
        <p:nvSpPr>
          <p:cNvPr id="102" name="Google Shape;102;p18"/>
          <p:cNvSpPr txBox="1"/>
          <p:nvPr>
            <p:ph idx="1" type="body"/>
          </p:nvPr>
        </p:nvSpPr>
        <p:spPr>
          <a:xfrm>
            <a:off x="311700" y="1266325"/>
            <a:ext cx="4093200" cy="1904400"/>
          </a:xfrm>
          <a:prstGeom prst="rect">
            <a:avLst/>
          </a:prstGeom>
        </p:spPr>
        <p:txBody>
          <a:bodyPr anchorCtr="0" anchor="t" bIns="91425" lIns="91425" spcFirstLastPara="1" rIns="91425" wrap="square" tIns="91425">
            <a:normAutofit fontScale="92500"/>
          </a:bodyPr>
          <a:lstStyle/>
          <a:p>
            <a:pPr indent="0" lvl="0" marL="0" rtl="0" algn="just">
              <a:spcBef>
                <a:spcPts val="1200"/>
              </a:spcBef>
              <a:spcAft>
                <a:spcPts val="0"/>
              </a:spcAft>
              <a:buNone/>
            </a:pPr>
            <a:r>
              <a:rPr b="1" lang="fr" sz="1100">
                <a:solidFill>
                  <a:srgbClr val="000000"/>
                </a:solidFill>
                <a:latin typeface="Arial"/>
                <a:ea typeface="Arial"/>
                <a:cs typeface="Arial"/>
                <a:sym typeface="Arial"/>
              </a:rPr>
              <a:t>Définition :</a:t>
            </a:r>
            <a:r>
              <a:rPr lang="fr" sz="1100">
                <a:solidFill>
                  <a:srgbClr val="000000"/>
                </a:solidFill>
                <a:latin typeface="Arial"/>
                <a:ea typeface="Arial"/>
                <a:cs typeface="Arial"/>
                <a:sym typeface="Arial"/>
              </a:rPr>
              <a:t> Chaque enregistrement dans la Table A peut être associé à plusieurs enregistrements dans la Table B, et vice versa.</a:t>
            </a:r>
            <a:endParaRPr sz="1100">
              <a:solidFill>
                <a:srgbClr val="000000"/>
              </a:solidFill>
              <a:latin typeface="Arial"/>
              <a:ea typeface="Arial"/>
              <a:cs typeface="Arial"/>
              <a:sym typeface="Arial"/>
            </a:endParaRPr>
          </a:p>
          <a:p>
            <a:pPr indent="0" lvl="0" marL="0" rtl="0" algn="just">
              <a:spcBef>
                <a:spcPts val="1200"/>
              </a:spcBef>
              <a:spcAft>
                <a:spcPts val="0"/>
              </a:spcAft>
              <a:buNone/>
            </a:pPr>
            <a:r>
              <a:rPr b="1" lang="fr" sz="1100">
                <a:solidFill>
                  <a:srgbClr val="000000"/>
                </a:solidFill>
                <a:latin typeface="Arial"/>
                <a:ea typeface="Arial"/>
                <a:cs typeface="Arial"/>
                <a:sym typeface="Arial"/>
              </a:rPr>
              <a:t>Mise en place :</a:t>
            </a:r>
            <a:r>
              <a:rPr lang="fr" sz="1100">
                <a:solidFill>
                  <a:srgbClr val="000000"/>
                </a:solidFill>
                <a:latin typeface="Arial"/>
                <a:ea typeface="Arial"/>
                <a:cs typeface="Arial"/>
                <a:sym typeface="Arial"/>
              </a:rPr>
              <a:t> Créer une table intermédiaire (également appelée table de jonction ou table de liaison) qui contient des clés étrangères faisant référence aux deux tables liées.</a:t>
            </a:r>
            <a:endParaRPr sz="1100">
              <a:solidFill>
                <a:srgbClr val="000000"/>
              </a:solidFill>
              <a:latin typeface="Arial"/>
              <a:ea typeface="Arial"/>
              <a:cs typeface="Arial"/>
              <a:sym typeface="Arial"/>
            </a:endParaRPr>
          </a:p>
          <a:p>
            <a:pPr indent="0" lvl="0" marL="0" rtl="0" algn="just">
              <a:spcBef>
                <a:spcPts val="1200"/>
              </a:spcBef>
              <a:spcAft>
                <a:spcPts val="1200"/>
              </a:spcAft>
              <a:buNone/>
            </a:pPr>
            <a:r>
              <a:rPr b="1" lang="fr" sz="1100">
                <a:solidFill>
                  <a:srgbClr val="000000"/>
                </a:solidFill>
                <a:latin typeface="Arial"/>
                <a:ea typeface="Arial"/>
                <a:cs typeface="Arial"/>
                <a:sym typeface="Arial"/>
              </a:rPr>
              <a:t>Exemple :</a:t>
            </a:r>
            <a:r>
              <a:rPr lang="fr" sz="1100">
                <a:solidFill>
                  <a:srgbClr val="000000"/>
                </a:solidFill>
                <a:latin typeface="Arial"/>
                <a:ea typeface="Arial"/>
                <a:cs typeface="Arial"/>
                <a:sym typeface="Arial"/>
              </a:rPr>
              <a:t> Les tables </a:t>
            </a:r>
            <a:r>
              <a:rPr lang="fr" sz="1100">
                <a:solidFill>
                  <a:srgbClr val="188038"/>
                </a:solidFill>
                <a:latin typeface="Roboto Mono"/>
                <a:ea typeface="Roboto Mono"/>
                <a:cs typeface="Roboto Mono"/>
                <a:sym typeface="Roboto Mono"/>
              </a:rPr>
              <a:t>students</a:t>
            </a:r>
            <a:r>
              <a:rPr lang="fr" sz="1100">
                <a:solidFill>
                  <a:srgbClr val="000000"/>
                </a:solidFill>
                <a:latin typeface="Arial"/>
                <a:ea typeface="Arial"/>
                <a:cs typeface="Arial"/>
                <a:sym typeface="Arial"/>
              </a:rPr>
              <a:t> et </a:t>
            </a:r>
            <a:r>
              <a:rPr lang="fr" sz="1100">
                <a:solidFill>
                  <a:srgbClr val="188038"/>
                </a:solidFill>
                <a:latin typeface="Roboto Mono"/>
                <a:ea typeface="Roboto Mono"/>
                <a:cs typeface="Roboto Mono"/>
                <a:sym typeface="Roboto Mono"/>
              </a:rPr>
              <a:t>courses</a:t>
            </a:r>
            <a:r>
              <a:rPr lang="fr" sz="1100">
                <a:solidFill>
                  <a:srgbClr val="000000"/>
                </a:solidFill>
                <a:latin typeface="Arial"/>
                <a:ea typeface="Arial"/>
                <a:cs typeface="Arial"/>
                <a:sym typeface="Arial"/>
              </a:rPr>
              <a:t>, où chaque étudiant peut s'inscrire à plusieurs cours, et chaque cours peut avoir plusieurs étudiants.</a:t>
            </a:r>
            <a:endParaRPr b="1" sz="1100">
              <a:solidFill>
                <a:srgbClr val="000000"/>
              </a:solidFill>
              <a:latin typeface="Arial"/>
              <a:ea typeface="Arial"/>
              <a:cs typeface="Arial"/>
              <a:sym typeface="Arial"/>
            </a:endParaRPr>
          </a:p>
        </p:txBody>
      </p:sp>
      <p:pic>
        <p:nvPicPr>
          <p:cNvPr id="103" name="Google Shape;103;p18"/>
          <p:cNvPicPr preferRelativeResize="0"/>
          <p:nvPr/>
        </p:nvPicPr>
        <p:blipFill>
          <a:blip r:embed="rId3">
            <a:alphaModFix/>
          </a:blip>
          <a:stretch>
            <a:fillRect/>
          </a:stretch>
        </p:blipFill>
        <p:spPr>
          <a:xfrm>
            <a:off x="4536975" y="793425"/>
            <a:ext cx="4471900" cy="2377300"/>
          </a:xfrm>
          <a:prstGeom prst="rect">
            <a:avLst/>
          </a:prstGeom>
          <a:noFill/>
          <a:ln>
            <a:noFill/>
          </a:ln>
        </p:spPr>
      </p:pic>
      <p:pic>
        <p:nvPicPr>
          <p:cNvPr id="104" name="Google Shape;104;p18"/>
          <p:cNvPicPr preferRelativeResize="0"/>
          <p:nvPr/>
        </p:nvPicPr>
        <p:blipFill>
          <a:blip r:embed="rId4">
            <a:alphaModFix/>
          </a:blip>
          <a:stretch>
            <a:fillRect/>
          </a:stretch>
        </p:blipFill>
        <p:spPr>
          <a:xfrm>
            <a:off x="920612" y="3239200"/>
            <a:ext cx="7302776" cy="1790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ERDs</a:t>
            </a:r>
            <a:endParaRPr/>
          </a:p>
        </p:txBody>
      </p:sp>
      <p:pic>
        <p:nvPicPr>
          <p:cNvPr id="110" name="Google Shape;110;p19"/>
          <p:cNvPicPr preferRelativeResize="0"/>
          <p:nvPr/>
        </p:nvPicPr>
        <p:blipFill>
          <a:blip r:embed="rId3">
            <a:alphaModFix/>
          </a:blip>
          <a:stretch>
            <a:fillRect/>
          </a:stretch>
        </p:blipFill>
        <p:spPr>
          <a:xfrm>
            <a:off x="1442250" y="2112825"/>
            <a:ext cx="6325426" cy="2774700"/>
          </a:xfrm>
          <a:prstGeom prst="rect">
            <a:avLst/>
          </a:prstGeom>
          <a:noFill/>
          <a:ln>
            <a:noFill/>
          </a:ln>
        </p:spPr>
      </p:pic>
      <p:sp>
        <p:nvSpPr>
          <p:cNvPr id="111" name="Google Shape;111;p19"/>
          <p:cNvSpPr txBox="1"/>
          <p:nvPr>
            <p:ph idx="1" type="body"/>
          </p:nvPr>
        </p:nvSpPr>
        <p:spPr>
          <a:xfrm>
            <a:off x="311700" y="1266325"/>
            <a:ext cx="8335200" cy="1904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fr" sz="1100">
                <a:solidFill>
                  <a:srgbClr val="000000"/>
                </a:solidFill>
                <a:latin typeface="Arial"/>
                <a:ea typeface="Arial"/>
                <a:cs typeface="Arial"/>
                <a:sym typeface="Arial"/>
              </a:rPr>
              <a:t>L’</a:t>
            </a:r>
            <a:r>
              <a:rPr b="1" lang="fr" sz="1100">
                <a:solidFill>
                  <a:srgbClr val="000000"/>
                </a:solidFill>
                <a:latin typeface="Arial"/>
                <a:ea typeface="Arial"/>
                <a:cs typeface="Arial"/>
                <a:sym typeface="Arial"/>
              </a:rPr>
              <a:t>Entity Relation Diagram</a:t>
            </a:r>
            <a:r>
              <a:rPr lang="fr" sz="1100">
                <a:solidFill>
                  <a:srgbClr val="000000"/>
                </a:solidFill>
                <a:latin typeface="Arial"/>
                <a:ea typeface="Arial"/>
                <a:cs typeface="Arial"/>
                <a:sym typeface="Arial"/>
              </a:rPr>
              <a:t> qu’on raccourcis souvent par ERD sont un moyen de visualiser les tables, les clés primaires, les clés étrangères et la cardinalité les tables entre les tables.</a:t>
            </a:r>
            <a:endParaRPr sz="1100">
              <a:solidFill>
                <a:srgbClr val="000000"/>
              </a:solidFill>
              <a:latin typeface="Arial"/>
              <a:ea typeface="Arial"/>
              <a:cs typeface="Arial"/>
              <a:sym typeface="Arial"/>
            </a:endParaRPr>
          </a:p>
          <a:p>
            <a:pPr indent="0" lvl="0" marL="0" rtl="0" algn="just">
              <a:spcBef>
                <a:spcPts val="1200"/>
              </a:spcBef>
              <a:spcAft>
                <a:spcPts val="0"/>
              </a:spcAft>
              <a:buNone/>
            </a:pPr>
            <a:r>
              <a:rPr lang="fr" sz="1100">
                <a:solidFill>
                  <a:srgbClr val="000000"/>
                </a:solidFill>
                <a:latin typeface="Arial"/>
                <a:ea typeface="Arial"/>
                <a:cs typeface="Arial"/>
                <a:sym typeface="Arial"/>
              </a:rPr>
              <a:t>On peut les dessiner à la main mais je vous conseille l’application </a:t>
            </a:r>
            <a:r>
              <a:rPr b="1" lang="fr" sz="1100">
                <a:solidFill>
                  <a:srgbClr val="000000"/>
                </a:solidFill>
                <a:latin typeface="Arial"/>
                <a:ea typeface="Arial"/>
                <a:cs typeface="Arial"/>
                <a:sym typeface="Arial"/>
              </a:rPr>
              <a:t>Lucid Chart</a:t>
            </a:r>
            <a:r>
              <a:rPr lang="fr" sz="1100">
                <a:solidFill>
                  <a:srgbClr val="000000"/>
                </a:solidFill>
                <a:latin typeface="Arial"/>
                <a:ea typeface="Arial"/>
                <a:cs typeface="Arial"/>
                <a:sym typeface="Arial"/>
              </a:rPr>
              <a:t> pour visualiser ces ERDs.</a:t>
            </a:r>
            <a:endParaRPr sz="1100">
              <a:solidFill>
                <a:srgbClr val="000000"/>
              </a:solidFill>
              <a:latin typeface="Arial"/>
              <a:ea typeface="Arial"/>
              <a:cs typeface="Arial"/>
              <a:sym typeface="Arial"/>
            </a:endParaRPr>
          </a:p>
          <a:p>
            <a:pPr indent="0" lvl="0" marL="0" rtl="0" algn="just">
              <a:spcBef>
                <a:spcPts val="1200"/>
              </a:spcBef>
              <a:spcAft>
                <a:spcPts val="1200"/>
              </a:spcAft>
              <a:buNone/>
            </a:pPr>
            <a:r>
              <a:rPr lang="fr" sz="1100">
                <a:solidFill>
                  <a:srgbClr val="000000"/>
                </a:solidFill>
                <a:latin typeface="Arial"/>
                <a:ea typeface="Arial"/>
                <a:cs typeface="Arial"/>
                <a:sym typeface="Arial"/>
              </a:rPr>
              <a:t>Voici un exemple</a:t>
            </a:r>
            <a:endParaRPr sz="11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différents types de relation</a:t>
            </a:r>
            <a:endParaRPr/>
          </a:p>
        </p:txBody>
      </p:sp>
      <p:sp>
        <p:nvSpPr>
          <p:cNvPr id="117" name="Google Shape;117;p20"/>
          <p:cNvSpPr txBox="1"/>
          <p:nvPr>
            <p:ph idx="1" type="body"/>
          </p:nvPr>
        </p:nvSpPr>
        <p:spPr>
          <a:xfrm>
            <a:off x="311700" y="1266325"/>
            <a:ext cx="27492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On peut représenter les différentes types de relation :</a:t>
            </a:r>
            <a:endParaRPr/>
          </a:p>
          <a:p>
            <a:pPr indent="-334327" lvl="0" marL="457200" rtl="0" algn="l">
              <a:spcBef>
                <a:spcPts val="1200"/>
              </a:spcBef>
              <a:spcAft>
                <a:spcPts val="0"/>
              </a:spcAft>
              <a:buSzPct val="100000"/>
              <a:buChar char="-"/>
            </a:pPr>
            <a:r>
              <a:rPr lang="fr"/>
              <a:t>one-to-one</a:t>
            </a:r>
            <a:endParaRPr/>
          </a:p>
          <a:p>
            <a:pPr indent="-334327" lvl="0" marL="457200" rtl="0" algn="l">
              <a:spcBef>
                <a:spcPts val="0"/>
              </a:spcBef>
              <a:spcAft>
                <a:spcPts val="0"/>
              </a:spcAft>
              <a:buSzPct val="100000"/>
              <a:buChar char="-"/>
            </a:pPr>
            <a:r>
              <a:rPr lang="fr"/>
              <a:t>one-to-many</a:t>
            </a:r>
            <a:endParaRPr/>
          </a:p>
          <a:p>
            <a:pPr indent="-334327" lvl="0" marL="457200" rtl="0" algn="l">
              <a:spcBef>
                <a:spcPts val="0"/>
              </a:spcBef>
              <a:spcAft>
                <a:spcPts val="0"/>
              </a:spcAft>
              <a:buSzPct val="100000"/>
              <a:buChar char="-"/>
            </a:pPr>
            <a:r>
              <a:rPr lang="fr"/>
              <a:t>many-to-one</a:t>
            </a:r>
            <a:endParaRPr/>
          </a:p>
          <a:p>
            <a:pPr indent="-334327" lvl="0" marL="457200" rtl="0" algn="l">
              <a:spcBef>
                <a:spcPts val="0"/>
              </a:spcBef>
              <a:spcAft>
                <a:spcPts val="0"/>
              </a:spcAft>
              <a:buSzPct val="100000"/>
              <a:buChar char="-"/>
            </a:pPr>
            <a:r>
              <a:rPr lang="fr"/>
              <a:t>many-to-many</a:t>
            </a:r>
            <a:endParaRPr/>
          </a:p>
          <a:p>
            <a:pPr indent="0" lvl="0" marL="0" rtl="0" algn="l">
              <a:spcBef>
                <a:spcPts val="1200"/>
              </a:spcBef>
              <a:spcAft>
                <a:spcPts val="1200"/>
              </a:spcAft>
              <a:buNone/>
            </a:pPr>
            <a:r>
              <a:rPr lang="fr"/>
              <a:t>On peut également ajouter de la précision en indiquant si la relation est facultative ou obligatoire.</a:t>
            </a:r>
            <a:endParaRPr/>
          </a:p>
        </p:txBody>
      </p:sp>
      <p:pic>
        <p:nvPicPr>
          <p:cNvPr id="118" name="Google Shape;118;p20"/>
          <p:cNvPicPr preferRelativeResize="0"/>
          <p:nvPr/>
        </p:nvPicPr>
        <p:blipFill>
          <a:blip r:embed="rId3">
            <a:alphaModFix/>
          </a:blip>
          <a:stretch>
            <a:fillRect/>
          </a:stretch>
        </p:blipFill>
        <p:spPr>
          <a:xfrm>
            <a:off x="3166850" y="1266325"/>
            <a:ext cx="5876148" cy="3108800"/>
          </a:xfrm>
          <a:prstGeom prst="rect">
            <a:avLst/>
          </a:prstGeom>
          <a:noFill/>
          <a:ln>
            <a:noFill/>
          </a:ln>
        </p:spPr>
      </p:pic>
      <p:sp>
        <p:nvSpPr>
          <p:cNvPr id="119" name="Google Shape;119;p20"/>
          <p:cNvSpPr/>
          <p:nvPr/>
        </p:nvSpPr>
        <p:spPr>
          <a:xfrm>
            <a:off x="7232600" y="2695525"/>
            <a:ext cx="1631700" cy="44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Open Sans"/>
                <a:ea typeface="Open Sans"/>
                <a:cs typeface="Open Sans"/>
                <a:sym typeface="Open Sans"/>
              </a:rPr>
              <a:t>Légende</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Comment interpréter ces symboles</a:t>
            </a:r>
            <a:endParaRPr/>
          </a:p>
        </p:txBody>
      </p:sp>
      <p:pic>
        <p:nvPicPr>
          <p:cNvPr id="125" name="Google Shape;125;p21"/>
          <p:cNvPicPr preferRelativeResize="0"/>
          <p:nvPr/>
        </p:nvPicPr>
        <p:blipFill>
          <a:blip r:embed="rId3">
            <a:alphaModFix/>
          </a:blip>
          <a:stretch>
            <a:fillRect/>
          </a:stretch>
        </p:blipFill>
        <p:spPr>
          <a:xfrm>
            <a:off x="1464450" y="1152425"/>
            <a:ext cx="6215100" cy="3397575"/>
          </a:xfrm>
          <a:prstGeom prst="rect">
            <a:avLst/>
          </a:prstGeom>
          <a:noFill/>
          <a:ln>
            <a:noFill/>
          </a:ln>
        </p:spPr>
      </p:pic>
      <p:sp>
        <p:nvSpPr>
          <p:cNvPr id="126" name="Google Shape;126;p21"/>
          <p:cNvSpPr/>
          <p:nvPr/>
        </p:nvSpPr>
        <p:spPr>
          <a:xfrm>
            <a:off x="5959500" y="2892375"/>
            <a:ext cx="1631700" cy="44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Open Sans"/>
                <a:ea typeface="Open Sans"/>
                <a:cs typeface="Open Sans"/>
                <a:sym typeface="Open Sans"/>
              </a:rPr>
              <a:t>Légende</a:t>
            </a:r>
            <a:endParaRPr>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ERDs</a:t>
            </a:r>
            <a:endParaRPr/>
          </a:p>
        </p:txBody>
      </p:sp>
      <p:pic>
        <p:nvPicPr>
          <p:cNvPr id="132" name="Google Shape;132;p22"/>
          <p:cNvPicPr preferRelativeResize="0"/>
          <p:nvPr/>
        </p:nvPicPr>
        <p:blipFill>
          <a:blip r:embed="rId3">
            <a:alphaModFix/>
          </a:blip>
          <a:stretch>
            <a:fillRect/>
          </a:stretch>
        </p:blipFill>
        <p:spPr>
          <a:xfrm>
            <a:off x="1409287" y="1472875"/>
            <a:ext cx="6325426" cy="2774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Crow Notation</a:t>
            </a:r>
            <a:endParaRPr/>
          </a:p>
        </p:txBody>
      </p:sp>
      <p:graphicFrame>
        <p:nvGraphicFramePr>
          <p:cNvPr id="138" name="Google Shape;138;p23"/>
          <p:cNvGraphicFramePr/>
          <p:nvPr/>
        </p:nvGraphicFramePr>
        <p:xfrm>
          <a:off x="952500" y="1331475"/>
          <a:ext cx="3000000" cy="3000000"/>
        </p:xfrm>
        <a:graphic>
          <a:graphicData uri="http://schemas.openxmlformats.org/drawingml/2006/table">
            <a:tbl>
              <a:tblPr>
                <a:noFill/>
                <a:tableStyleId>{6CDF6C7D-4C8E-4C73-B0C6-1976E8332422}</a:tableStyleId>
              </a:tblPr>
              <a:tblGrid>
                <a:gridCol w="1657575"/>
                <a:gridCol w="748600"/>
                <a:gridCol w="810250"/>
                <a:gridCol w="756850"/>
                <a:gridCol w="3265725"/>
              </a:tblGrid>
              <a:tr h="570550">
                <a:tc>
                  <a:txBody>
                    <a:bodyPr/>
                    <a:lstStyle/>
                    <a:p>
                      <a:pPr indent="0" lvl="0" marL="0" rtl="0" algn="l">
                        <a:spcBef>
                          <a:spcPts val="0"/>
                        </a:spcBef>
                        <a:spcAft>
                          <a:spcPts val="0"/>
                        </a:spcAft>
                        <a:buNone/>
                      </a:pPr>
                      <a:r>
                        <a:rPr b="1" lang="fr" sz="1000"/>
                        <a:t>Notation</a:t>
                      </a:r>
                      <a:endParaRPr b="1" sz="1000"/>
                    </a:p>
                  </a:txBody>
                  <a:tcPr marT="91425" marB="91425" marR="91425" marL="91425">
                    <a:solidFill>
                      <a:srgbClr val="B7B7B7"/>
                    </a:solidFill>
                  </a:tcPr>
                </a:tc>
                <a:tc>
                  <a:txBody>
                    <a:bodyPr/>
                    <a:lstStyle/>
                    <a:p>
                      <a:pPr indent="0" lvl="0" marL="0" rtl="0" algn="l">
                        <a:spcBef>
                          <a:spcPts val="0"/>
                        </a:spcBef>
                        <a:spcAft>
                          <a:spcPts val="0"/>
                        </a:spcAft>
                        <a:buNone/>
                      </a:pPr>
                      <a:r>
                        <a:rPr b="1" lang="fr" sz="1000"/>
                        <a:t>minimum de relations</a:t>
                      </a:r>
                      <a:endParaRPr b="1" sz="1000"/>
                    </a:p>
                  </a:txBody>
                  <a:tcPr marT="91425" marB="91425" marR="91425" marL="91425">
                    <a:solidFill>
                      <a:srgbClr val="B7B7B7"/>
                    </a:solidFill>
                  </a:tcPr>
                </a:tc>
                <a:tc>
                  <a:txBody>
                    <a:bodyPr/>
                    <a:lstStyle/>
                    <a:p>
                      <a:pPr indent="0" lvl="0" marL="0" rtl="0" algn="l">
                        <a:spcBef>
                          <a:spcPts val="0"/>
                        </a:spcBef>
                        <a:spcAft>
                          <a:spcPts val="0"/>
                        </a:spcAft>
                        <a:buNone/>
                      </a:pPr>
                      <a:r>
                        <a:rPr b="1" lang="fr" sz="1000"/>
                        <a:t>maximum de relations</a:t>
                      </a:r>
                      <a:endParaRPr b="1" sz="1000"/>
                    </a:p>
                  </a:txBody>
                  <a:tcPr marT="91425" marB="91425" marR="91425" marL="91425">
                    <a:solidFill>
                      <a:srgbClr val="B7B7B7"/>
                    </a:solidFill>
                  </a:tcPr>
                </a:tc>
                <a:tc>
                  <a:txBody>
                    <a:bodyPr/>
                    <a:lstStyle/>
                    <a:p>
                      <a:pPr indent="0" lvl="0" marL="0" rtl="0" algn="l">
                        <a:spcBef>
                          <a:spcPts val="0"/>
                        </a:spcBef>
                        <a:spcAft>
                          <a:spcPts val="0"/>
                        </a:spcAft>
                        <a:buNone/>
                      </a:pPr>
                      <a:r>
                        <a:rPr b="1" lang="fr" sz="1000"/>
                        <a:t>Symbole</a:t>
                      </a:r>
                      <a:endParaRPr b="1" sz="1000"/>
                    </a:p>
                  </a:txBody>
                  <a:tcPr marT="91425" marB="91425" marR="91425" marL="91425">
                    <a:solidFill>
                      <a:srgbClr val="B7B7B7"/>
                    </a:solidFill>
                  </a:tcPr>
                </a:tc>
                <a:tc>
                  <a:txBody>
                    <a:bodyPr/>
                    <a:lstStyle/>
                    <a:p>
                      <a:pPr indent="0" lvl="0" marL="0" rtl="0" algn="l">
                        <a:spcBef>
                          <a:spcPts val="0"/>
                        </a:spcBef>
                        <a:spcAft>
                          <a:spcPts val="0"/>
                        </a:spcAft>
                        <a:buNone/>
                      </a:pPr>
                      <a:r>
                        <a:rPr b="1" lang="fr" sz="1000"/>
                        <a:t>Exemple</a:t>
                      </a:r>
                      <a:endParaRPr b="1" sz="1000"/>
                    </a:p>
                  </a:txBody>
                  <a:tcPr marT="91425" marB="91425" marR="91425" marL="91425">
                    <a:solidFill>
                      <a:srgbClr val="B7B7B7"/>
                    </a:solidFill>
                  </a:tcPr>
                </a:tc>
              </a:tr>
              <a:tr h="528825">
                <a:tc>
                  <a:txBody>
                    <a:bodyPr/>
                    <a:lstStyle/>
                    <a:p>
                      <a:pPr indent="0" lvl="0" marL="0" rtl="0" algn="l">
                        <a:spcBef>
                          <a:spcPts val="0"/>
                        </a:spcBef>
                        <a:spcAft>
                          <a:spcPts val="0"/>
                        </a:spcAft>
                        <a:buNone/>
                      </a:pPr>
                      <a:r>
                        <a:rPr i="1" lang="fr" sz="900"/>
                        <a:t>Zero or many (0..*)</a:t>
                      </a:r>
                      <a:endParaRPr i="1" sz="900"/>
                    </a:p>
                  </a:txBody>
                  <a:tcPr marT="91425" marB="91425" marR="91425" marL="91425"/>
                </a:tc>
                <a:tc>
                  <a:txBody>
                    <a:bodyPr/>
                    <a:lstStyle/>
                    <a:p>
                      <a:pPr indent="0" lvl="0" marL="0" rtl="0" algn="l">
                        <a:spcBef>
                          <a:spcPts val="0"/>
                        </a:spcBef>
                        <a:spcAft>
                          <a:spcPts val="0"/>
                        </a:spcAft>
                        <a:buNone/>
                      </a:pPr>
                      <a:r>
                        <a:rPr lang="fr" sz="900"/>
                        <a:t>0</a:t>
                      </a:r>
                      <a:endParaRPr sz="900"/>
                    </a:p>
                  </a:txBody>
                  <a:tcPr marT="91425" marB="91425" marR="91425" marL="91425"/>
                </a:tc>
                <a:tc>
                  <a:txBody>
                    <a:bodyPr/>
                    <a:lstStyle/>
                    <a:p>
                      <a:pPr indent="0" lvl="0" marL="0" rtl="0" algn="l">
                        <a:spcBef>
                          <a:spcPts val="0"/>
                        </a:spcBef>
                        <a:spcAft>
                          <a:spcPts val="0"/>
                        </a:spcAft>
                        <a:buNone/>
                      </a:pPr>
                      <a:r>
                        <a:rPr lang="fr" sz="900"/>
                        <a:t>∞</a:t>
                      </a:r>
                      <a:endParaRPr sz="900"/>
                    </a:p>
                  </a:txBody>
                  <a:tcPr marT="91425" marB="91425" marR="91425" marL="91425"/>
                </a:tc>
                <a:tc>
                  <a:txBody>
                    <a:bodyPr/>
                    <a:lstStyle/>
                    <a:p>
                      <a:pPr indent="0" lvl="0" marL="0" rtl="0" algn="l">
                        <a:spcBef>
                          <a:spcPts val="0"/>
                        </a:spcBef>
                        <a:spcAft>
                          <a:spcPts val="0"/>
                        </a:spcAft>
                        <a:buNone/>
                      </a:pPr>
                      <a:r>
                        <a:t/>
                      </a:r>
                      <a:endParaRPr sz="900"/>
                    </a:p>
                  </a:txBody>
                  <a:tcPr marT="91425" marB="91425" marR="91425" marL="91425"/>
                </a:tc>
                <a:tc>
                  <a:txBody>
                    <a:bodyPr/>
                    <a:lstStyle/>
                    <a:p>
                      <a:pPr indent="0" lvl="0" marL="0" rtl="0" algn="l">
                        <a:spcBef>
                          <a:spcPts val="0"/>
                        </a:spcBef>
                        <a:spcAft>
                          <a:spcPts val="0"/>
                        </a:spcAft>
                        <a:buNone/>
                      </a:pPr>
                      <a:r>
                        <a:rPr lang="fr" sz="900"/>
                        <a:t>Un client peut avoir passé plusieurs commandes (ou aucune).</a:t>
                      </a:r>
                      <a:endParaRPr sz="900"/>
                    </a:p>
                  </a:txBody>
                  <a:tcPr marT="91425" marB="91425" marR="91425" marL="91425"/>
                </a:tc>
              </a:tr>
              <a:tr h="528825">
                <a:tc>
                  <a:txBody>
                    <a:bodyPr/>
                    <a:lstStyle/>
                    <a:p>
                      <a:pPr indent="0" lvl="0" marL="0" rtl="0" algn="l">
                        <a:spcBef>
                          <a:spcPts val="0"/>
                        </a:spcBef>
                        <a:spcAft>
                          <a:spcPts val="0"/>
                        </a:spcAft>
                        <a:buNone/>
                      </a:pPr>
                      <a:r>
                        <a:rPr i="1" lang="fr" sz="900"/>
                        <a:t>One and only one (1..1)</a:t>
                      </a:r>
                      <a:endParaRPr i="1" sz="900"/>
                    </a:p>
                  </a:txBody>
                  <a:tcPr marT="91425" marB="91425" marR="91425" marL="91425"/>
                </a:tc>
                <a:tc>
                  <a:txBody>
                    <a:bodyPr/>
                    <a:lstStyle/>
                    <a:p>
                      <a:pPr indent="0" lvl="0" marL="0" rtl="0" algn="l">
                        <a:spcBef>
                          <a:spcPts val="0"/>
                        </a:spcBef>
                        <a:spcAft>
                          <a:spcPts val="0"/>
                        </a:spcAft>
                        <a:buNone/>
                      </a:pPr>
                      <a:r>
                        <a:rPr lang="fr" sz="900"/>
                        <a:t>1</a:t>
                      </a:r>
                      <a:endParaRPr sz="900"/>
                    </a:p>
                  </a:txBody>
                  <a:tcPr marT="91425" marB="91425" marR="91425" marL="91425"/>
                </a:tc>
                <a:tc>
                  <a:txBody>
                    <a:bodyPr/>
                    <a:lstStyle/>
                    <a:p>
                      <a:pPr indent="0" lvl="0" marL="0" rtl="0" algn="l">
                        <a:spcBef>
                          <a:spcPts val="0"/>
                        </a:spcBef>
                        <a:spcAft>
                          <a:spcPts val="0"/>
                        </a:spcAft>
                        <a:buNone/>
                      </a:pPr>
                      <a:r>
                        <a:rPr lang="fr" sz="900"/>
                        <a:t>1</a:t>
                      </a:r>
                      <a:endParaRPr sz="900"/>
                    </a:p>
                  </a:txBody>
                  <a:tcPr marT="91425" marB="91425" marR="91425" marL="91425"/>
                </a:tc>
                <a:tc>
                  <a:txBody>
                    <a:bodyPr/>
                    <a:lstStyle/>
                    <a:p>
                      <a:pPr indent="0" lvl="0" marL="0" rtl="0" algn="l">
                        <a:spcBef>
                          <a:spcPts val="0"/>
                        </a:spcBef>
                        <a:spcAft>
                          <a:spcPts val="0"/>
                        </a:spcAft>
                        <a:buNone/>
                      </a:pPr>
                      <a:r>
                        <a:t/>
                      </a:r>
                      <a:endParaRPr sz="900"/>
                    </a:p>
                  </a:txBody>
                  <a:tcPr marT="91425" marB="91425" marR="91425" marL="91425"/>
                </a:tc>
                <a:tc>
                  <a:txBody>
                    <a:bodyPr/>
                    <a:lstStyle/>
                    <a:p>
                      <a:pPr indent="0" lvl="0" marL="0" rtl="0" algn="l">
                        <a:spcBef>
                          <a:spcPts val="0"/>
                        </a:spcBef>
                        <a:spcAft>
                          <a:spcPts val="0"/>
                        </a:spcAft>
                        <a:buNone/>
                      </a:pPr>
                      <a:r>
                        <a:rPr lang="fr" sz="900"/>
                        <a:t>Chaque employé a un numéro de sécurité sociale unique et obligatoire</a:t>
                      </a:r>
                      <a:endParaRPr sz="900"/>
                    </a:p>
                  </a:txBody>
                  <a:tcPr marT="91425" marB="91425" marR="91425" marL="91425"/>
                </a:tc>
              </a:tr>
              <a:tr h="438850">
                <a:tc>
                  <a:txBody>
                    <a:bodyPr/>
                    <a:lstStyle/>
                    <a:p>
                      <a:pPr indent="0" lvl="0" marL="0" rtl="0" algn="l">
                        <a:spcBef>
                          <a:spcPts val="0"/>
                        </a:spcBef>
                        <a:spcAft>
                          <a:spcPts val="0"/>
                        </a:spcAft>
                        <a:buNone/>
                      </a:pPr>
                      <a:r>
                        <a:rPr i="1" lang="fr" sz="900"/>
                        <a:t>Zero or one (0..1)</a:t>
                      </a:r>
                      <a:endParaRPr i="1" sz="900"/>
                    </a:p>
                  </a:txBody>
                  <a:tcPr marT="91425" marB="91425" marR="91425" marL="91425"/>
                </a:tc>
                <a:tc>
                  <a:txBody>
                    <a:bodyPr/>
                    <a:lstStyle/>
                    <a:p>
                      <a:pPr indent="0" lvl="0" marL="0" rtl="0" algn="l">
                        <a:spcBef>
                          <a:spcPts val="0"/>
                        </a:spcBef>
                        <a:spcAft>
                          <a:spcPts val="0"/>
                        </a:spcAft>
                        <a:buNone/>
                      </a:pPr>
                      <a:r>
                        <a:rPr lang="fr" sz="900"/>
                        <a:t>0</a:t>
                      </a:r>
                      <a:endParaRPr sz="900"/>
                    </a:p>
                  </a:txBody>
                  <a:tcPr marT="91425" marB="91425" marR="91425" marL="91425"/>
                </a:tc>
                <a:tc>
                  <a:txBody>
                    <a:bodyPr/>
                    <a:lstStyle/>
                    <a:p>
                      <a:pPr indent="0" lvl="0" marL="0" rtl="0" algn="l">
                        <a:spcBef>
                          <a:spcPts val="0"/>
                        </a:spcBef>
                        <a:spcAft>
                          <a:spcPts val="0"/>
                        </a:spcAft>
                        <a:buNone/>
                      </a:pPr>
                      <a:r>
                        <a:rPr lang="fr" sz="900"/>
                        <a:t>1</a:t>
                      </a:r>
                      <a:endParaRPr sz="900"/>
                    </a:p>
                  </a:txBody>
                  <a:tcPr marT="91425" marB="91425" marR="91425" marL="91425"/>
                </a:tc>
                <a:tc>
                  <a:txBody>
                    <a:bodyPr/>
                    <a:lstStyle/>
                    <a:p>
                      <a:pPr indent="0" lvl="0" marL="0" rtl="0" algn="l">
                        <a:spcBef>
                          <a:spcPts val="0"/>
                        </a:spcBef>
                        <a:spcAft>
                          <a:spcPts val="0"/>
                        </a:spcAft>
                        <a:buNone/>
                      </a:pPr>
                      <a:r>
                        <a:t/>
                      </a:r>
                      <a:endParaRPr sz="900"/>
                    </a:p>
                  </a:txBody>
                  <a:tcPr marT="91425" marB="91425" marR="91425" marL="91425"/>
                </a:tc>
                <a:tc>
                  <a:txBody>
                    <a:bodyPr/>
                    <a:lstStyle/>
                    <a:p>
                      <a:pPr indent="0" lvl="0" marL="0" rtl="0" algn="l">
                        <a:spcBef>
                          <a:spcPts val="0"/>
                        </a:spcBef>
                        <a:spcAft>
                          <a:spcPts val="0"/>
                        </a:spcAft>
                        <a:buNone/>
                      </a:pPr>
                      <a:r>
                        <a:rPr lang="fr" sz="900"/>
                        <a:t>Un client peut avoir une adresse de facturation alternative (ou aucune)</a:t>
                      </a:r>
                      <a:endParaRPr sz="900"/>
                    </a:p>
                  </a:txBody>
                  <a:tcPr marT="91425" marB="91425" marR="91425" marL="91425"/>
                </a:tc>
              </a:tr>
              <a:tr h="528825">
                <a:tc>
                  <a:txBody>
                    <a:bodyPr/>
                    <a:lstStyle/>
                    <a:p>
                      <a:pPr indent="0" lvl="0" marL="0" rtl="0" algn="l">
                        <a:spcBef>
                          <a:spcPts val="0"/>
                        </a:spcBef>
                        <a:spcAft>
                          <a:spcPts val="0"/>
                        </a:spcAft>
                        <a:buNone/>
                      </a:pPr>
                      <a:r>
                        <a:rPr i="1" lang="fr" sz="900"/>
                        <a:t>One or many (1..*)</a:t>
                      </a:r>
                      <a:endParaRPr i="1" sz="900"/>
                    </a:p>
                  </a:txBody>
                  <a:tcPr marT="91425" marB="91425" marR="91425" marL="91425"/>
                </a:tc>
                <a:tc>
                  <a:txBody>
                    <a:bodyPr/>
                    <a:lstStyle/>
                    <a:p>
                      <a:pPr indent="0" lvl="0" marL="0" rtl="0" algn="l">
                        <a:spcBef>
                          <a:spcPts val="0"/>
                        </a:spcBef>
                        <a:spcAft>
                          <a:spcPts val="0"/>
                        </a:spcAft>
                        <a:buNone/>
                      </a:pPr>
                      <a:r>
                        <a:rPr lang="fr" sz="900"/>
                        <a:t>1</a:t>
                      </a:r>
                      <a:endParaRPr sz="900"/>
                    </a:p>
                  </a:txBody>
                  <a:tcPr marT="91425" marB="91425" marR="91425" marL="91425"/>
                </a:tc>
                <a:tc>
                  <a:txBody>
                    <a:bodyPr/>
                    <a:lstStyle/>
                    <a:p>
                      <a:pPr indent="0" lvl="0" marL="0" rtl="0" algn="l">
                        <a:spcBef>
                          <a:spcPts val="0"/>
                        </a:spcBef>
                        <a:spcAft>
                          <a:spcPts val="0"/>
                        </a:spcAft>
                        <a:buNone/>
                      </a:pPr>
                      <a:r>
                        <a:rPr lang="fr" sz="900"/>
                        <a:t>∞</a:t>
                      </a:r>
                      <a:endParaRPr sz="900"/>
                    </a:p>
                  </a:txBody>
                  <a:tcPr marT="91425" marB="91425" marR="91425" marL="91425"/>
                </a:tc>
                <a:tc>
                  <a:txBody>
                    <a:bodyPr/>
                    <a:lstStyle/>
                    <a:p>
                      <a:pPr indent="0" lvl="0" marL="0" rtl="0" algn="l">
                        <a:spcBef>
                          <a:spcPts val="0"/>
                        </a:spcBef>
                        <a:spcAft>
                          <a:spcPts val="0"/>
                        </a:spcAft>
                        <a:buNone/>
                      </a:pPr>
                      <a:r>
                        <a:t/>
                      </a:r>
                      <a:endParaRPr sz="900"/>
                    </a:p>
                  </a:txBody>
                  <a:tcPr marT="91425" marB="91425" marR="91425" marL="91425"/>
                </a:tc>
                <a:tc>
                  <a:txBody>
                    <a:bodyPr/>
                    <a:lstStyle/>
                    <a:p>
                      <a:pPr indent="0" lvl="0" marL="0" rtl="0" algn="l">
                        <a:spcBef>
                          <a:spcPts val="0"/>
                        </a:spcBef>
                        <a:spcAft>
                          <a:spcPts val="0"/>
                        </a:spcAft>
                        <a:buNone/>
                      </a:pPr>
                      <a:r>
                        <a:rPr lang="fr" sz="900"/>
                        <a:t>Un client doit avoir au moins une commande, mais peut en avoir plusieurs</a:t>
                      </a:r>
                      <a:endParaRPr sz="900"/>
                    </a:p>
                  </a:txBody>
                  <a:tcPr marT="91425" marB="91425" marR="91425" marL="91425"/>
                </a:tc>
              </a:tr>
            </a:tbl>
          </a:graphicData>
        </a:graphic>
      </p:graphicFrame>
      <p:pic>
        <p:nvPicPr>
          <p:cNvPr id="139" name="Google Shape;139;p23"/>
          <p:cNvPicPr preferRelativeResize="0"/>
          <p:nvPr/>
        </p:nvPicPr>
        <p:blipFill>
          <a:blip r:embed="rId3">
            <a:alphaModFix/>
          </a:blip>
          <a:stretch>
            <a:fillRect/>
          </a:stretch>
        </p:blipFill>
        <p:spPr>
          <a:xfrm>
            <a:off x="4268307" y="2039325"/>
            <a:ext cx="607382" cy="334675"/>
          </a:xfrm>
          <a:prstGeom prst="rect">
            <a:avLst/>
          </a:prstGeom>
          <a:noFill/>
          <a:ln>
            <a:noFill/>
          </a:ln>
        </p:spPr>
      </p:pic>
      <p:pic>
        <p:nvPicPr>
          <p:cNvPr id="140" name="Google Shape;140;p23"/>
          <p:cNvPicPr preferRelativeResize="0"/>
          <p:nvPr/>
        </p:nvPicPr>
        <p:blipFill>
          <a:blip r:embed="rId4">
            <a:alphaModFix/>
          </a:blip>
          <a:stretch>
            <a:fillRect/>
          </a:stretch>
        </p:blipFill>
        <p:spPr>
          <a:xfrm>
            <a:off x="4268313" y="2571750"/>
            <a:ext cx="607375" cy="334675"/>
          </a:xfrm>
          <a:prstGeom prst="rect">
            <a:avLst/>
          </a:prstGeom>
          <a:noFill/>
          <a:ln>
            <a:noFill/>
          </a:ln>
        </p:spPr>
      </p:pic>
      <p:pic>
        <p:nvPicPr>
          <p:cNvPr id="141" name="Google Shape;141;p23"/>
          <p:cNvPicPr preferRelativeResize="0"/>
          <p:nvPr/>
        </p:nvPicPr>
        <p:blipFill>
          <a:blip r:embed="rId5">
            <a:alphaModFix/>
          </a:blip>
          <a:stretch>
            <a:fillRect/>
          </a:stretch>
        </p:blipFill>
        <p:spPr>
          <a:xfrm>
            <a:off x="4234888" y="3037825"/>
            <a:ext cx="674200" cy="371492"/>
          </a:xfrm>
          <a:prstGeom prst="rect">
            <a:avLst/>
          </a:prstGeom>
          <a:noFill/>
          <a:ln>
            <a:noFill/>
          </a:ln>
        </p:spPr>
      </p:pic>
      <p:pic>
        <p:nvPicPr>
          <p:cNvPr id="142" name="Google Shape;142;p23"/>
          <p:cNvPicPr preferRelativeResize="0"/>
          <p:nvPr/>
        </p:nvPicPr>
        <p:blipFill>
          <a:blip r:embed="rId6">
            <a:alphaModFix/>
          </a:blip>
          <a:stretch>
            <a:fillRect/>
          </a:stretch>
        </p:blipFill>
        <p:spPr>
          <a:xfrm>
            <a:off x="4268313" y="3540725"/>
            <a:ext cx="607373" cy="334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Démonstration sur Lucid Chart</a:t>
            </a:r>
            <a:endParaRPr/>
          </a:p>
        </p:txBody>
      </p:sp>
      <p:sp>
        <p:nvSpPr>
          <p:cNvPr id="148" name="Google Shape;148;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u="sng">
                <a:solidFill>
                  <a:schemeClr val="hlink"/>
                </a:solidFill>
                <a:hlinkClick r:id="rId3"/>
              </a:rPr>
              <a:t>Lucid Chart</a:t>
            </a:r>
            <a:endParaRPr/>
          </a:p>
          <a:p>
            <a:pPr indent="-342900" lvl="0" marL="457200" rtl="0" algn="l">
              <a:spcBef>
                <a:spcPts val="0"/>
              </a:spcBef>
              <a:spcAft>
                <a:spcPts val="0"/>
              </a:spcAft>
              <a:buSzPts val="1800"/>
              <a:buChar char="-"/>
            </a:pPr>
            <a:r>
              <a:rPr lang="fr"/>
              <a:t>Ajout </a:t>
            </a:r>
            <a:r>
              <a:rPr lang="fr"/>
              <a:t>d'entités, configuration, relations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